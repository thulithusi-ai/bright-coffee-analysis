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oriboon" panose="020B0604020202020204" charset="-34"/>
      <p:regular r:id="rId10"/>
    </p:embeddedFont>
    <p:embeddedFont>
      <p:font typeface="Boriboon Bold" panose="020B0604020202020204" charset="-34"/>
      <p:regular r:id="rId11"/>
    </p:embeddedFont>
    <p:embeddedFont>
      <p:font typeface="Canva Sans" panose="020B0604020202020204" charset="0"/>
      <p:regular r:id="rId12"/>
    </p:embeddedFont>
    <p:embeddedFont>
      <p:font typeface="Loubag" panose="020B0604020202020204" charset="0"/>
      <p:regular r:id="rId13"/>
    </p:embeddedFont>
    <p:embeddedFont>
      <p:font typeface="Loubag Bold" panose="020B0604020202020204" charset="0"/>
      <p:regular r:id="rId14"/>
    </p:embeddedFont>
    <p:embeddedFont>
      <p:font typeface="Lovelo Lin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4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B1984-6CF4-610D-A896-1FB44C630DB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9944100"/>
            <a:ext cx="16621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2756">
            <a:off x="16252143" y="1149443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3"/>
                </a:lnTo>
                <a:lnTo>
                  <a:pt x="0" y="5816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3091439" y="2373012"/>
            <a:ext cx="11363826" cy="4416111"/>
            <a:chOff x="0" y="0"/>
            <a:chExt cx="2992942" cy="1163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2942" cy="1163091"/>
            </a:xfrm>
            <a:custGeom>
              <a:avLst/>
              <a:gdLst/>
              <a:ahLst/>
              <a:cxnLst/>
              <a:rect l="l" t="t" r="r" b="b"/>
              <a:pathLst>
                <a:path w="2992942" h="1163091">
                  <a:moveTo>
                    <a:pt x="1496471" y="0"/>
                  </a:moveTo>
                  <a:cubicBezTo>
                    <a:pt x="669993" y="0"/>
                    <a:pt x="0" y="260367"/>
                    <a:pt x="0" y="581546"/>
                  </a:cubicBezTo>
                  <a:cubicBezTo>
                    <a:pt x="0" y="902724"/>
                    <a:pt x="669993" y="1163091"/>
                    <a:pt x="1496471" y="1163091"/>
                  </a:cubicBezTo>
                  <a:cubicBezTo>
                    <a:pt x="2322949" y="1163091"/>
                    <a:pt x="2992942" y="902724"/>
                    <a:pt x="2992942" y="581546"/>
                  </a:cubicBezTo>
                  <a:cubicBezTo>
                    <a:pt x="2992942" y="260367"/>
                    <a:pt x="2322949" y="0"/>
                    <a:pt x="1496471" y="0"/>
                  </a:cubicBezTo>
                  <a:close/>
                </a:path>
              </a:pathLst>
            </a:custGeom>
            <a:solidFill>
              <a:srgbClr val="F8EFE5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0588" y="80465"/>
              <a:ext cx="2431765" cy="97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61855" y="-2211799"/>
            <a:ext cx="3024635" cy="4423598"/>
          </a:xfrm>
          <a:custGeom>
            <a:avLst/>
            <a:gdLst/>
            <a:ahLst/>
            <a:cxnLst/>
            <a:rect l="l" t="t" r="r" b="b"/>
            <a:pathLst>
              <a:path w="3024635" h="4423598">
                <a:moveTo>
                  <a:pt x="0" y="0"/>
                </a:moveTo>
                <a:lnTo>
                  <a:pt x="3024635" y="0"/>
                </a:lnTo>
                <a:lnTo>
                  <a:pt x="3024635" y="4423598"/>
                </a:lnTo>
                <a:lnTo>
                  <a:pt x="0" y="4423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7" name="Freeform 7"/>
          <p:cNvSpPr/>
          <p:nvPr/>
        </p:nvSpPr>
        <p:spPr>
          <a:xfrm rot="956830">
            <a:off x="-71763" y="6231341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6" y="0"/>
                </a:lnTo>
                <a:lnTo>
                  <a:pt x="3698126" y="4448873"/>
                </a:lnTo>
                <a:lnTo>
                  <a:pt x="0" y="4448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 rot="-161141">
            <a:off x="14558943" y="7551130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3" y="0"/>
                </a:lnTo>
                <a:lnTo>
                  <a:pt x="3872013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1" name="Group 11"/>
          <p:cNvGrpSpPr/>
          <p:nvPr/>
        </p:nvGrpSpPr>
        <p:grpSpPr>
          <a:xfrm>
            <a:off x="6430777" y="8711632"/>
            <a:ext cx="5426446" cy="724515"/>
            <a:chOff x="0" y="0"/>
            <a:chExt cx="1702870" cy="22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2870" cy="227360"/>
            </a:xfrm>
            <a:custGeom>
              <a:avLst/>
              <a:gdLst/>
              <a:ahLst/>
              <a:cxnLst/>
              <a:rect l="l" t="t" r="r" b="b"/>
              <a:pathLst>
                <a:path w="1702870" h="227360">
                  <a:moveTo>
                    <a:pt x="72762" y="0"/>
                  </a:moveTo>
                  <a:lnTo>
                    <a:pt x="1630109" y="0"/>
                  </a:lnTo>
                  <a:cubicBezTo>
                    <a:pt x="1649406" y="0"/>
                    <a:pt x="1667914" y="7666"/>
                    <a:pt x="1681559" y="21311"/>
                  </a:cubicBezTo>
                  <a:cubicBezTo>
                    <a:pt x="1695204" y="34957"/>
                    <a:pt x="1702870" y="53464"/>
                    <a:pt x="1702870" y="72762"/>
                  </a:cubicBezTo>
                  <a:lnTo>
                    <a:pt x="1702870" y="154598"/>
                  </a:lnTo>
                  <a:cubicBezTo>
                    <a:pt x="1702870" y="173896"/>
                    <a:pt x="1695204" y="192403"/>
                    <a:pt x="1681559" y="206048"/>
                  </a:cubicBezTo>
                  <a:cubicBezTo>
                    <a:pt x="1667914" y="219694"/>
                    <a:pt x="1649406" y="227360"/>
                    <a:pt x="1630109" y="227360"/>
                  </a:cubicBezTo>
                  <a:lnTo>
                    <a:pt x="72762" y="227360"/>
                  </a:lnTo>
                  <a:cubicBezTo>
                    <a:pt x="53464" y="227360"/>
                    <a:pt x="34957" y="219694"/>
                    <a:pt x="21311" y="206048"/>
                  </a:cubicBezTo>
                  <a:cubicBezTo>
                    <a:pt x="7666" y="192403"/>
                    <a:pt x="0" y="173896"/>
                    <a:pt x="0" y="154598"/>
                  </a:cubicBezTo>
                  <a:lnTo>
                    <a:pt x="0" y="72762"/>
                  </a:lnTo>
                  <a:cubicBezTo>
                    <a:pt x="0" y="53464"/>
                    <a:pt x="7666" y="34957"/>
                    <a:pt x="21311" y="21311"/>
                  </a:cubicBezTo>
                  <a:cubicBezTo>
                    <a:pt x="34957" y="7666"/>
                    <a:pt x="53464" y="0"/>
                    <a:pt x="72762" y="0"/>
                  </a:cubicBezTo>
                  <a:close/>
                </a:path>
              </a:pathLst>
            </a:custGeom>
            <a:solidFill>
              <a:srgbClr val="C8926B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702870" cy="255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1334459" flipH="1">
            <a:off x="-904437" y="2190700"/>
            <a:ext cx="3074684" cy="3660339"/>
          </a:xfrm>
          <a:custGeom>
            <a:avLst/>
            <a:gdLst/>
            <a:ahLst/>
            <a:cxnLst/>
            <a:rect l="l" t="t" r="r" b="b"/>
            <a:pathLst>
              <a:path w="3074684" h="3660339">
                <a:moveTo>
                  <a:pt x="3074684" y="0"/>
                </a:moveTo>
                <a:lnTo>
                  <a:pt x="0" y="0"/>
                </a:lnTo>
                <a:lnTo>
                  <a:pt x="0" y="3660339"/>
                </a:lnTo>
                <a:lnTo>
                  <a:pt x="3074684" y="3660339"/>
                </a:lnTo>
                <a:lnTo>
                  <a:pt x="307468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TextBox 15"/>
          <p:cNvSpPr txBox="1"/>
          <p:nvPr/>
        </p:nvSpPr>
        <p:spPr>
          <a:xfrm>
            <a:off x="4897505" y="2815957"/>
            <a:ext cx="7751695" cy="485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978"/>
              </a:lnSpc>
            </a:pPr>
            <a:r>
              <a:rPr lang="en-US" sz="15815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COFFEESHOP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2845" y="1744976"/>
            <a:ext cx="2722310" cy="85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5145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BRIGHT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73144" y="6902553"/>
            <a:ext cx="3741713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3B191D"/>
                </a:solidFill>
                <a:latin typeface="Boriboon Bold"/>
                <a:ea typeface="Boriboon Bold"/>
                <a:cs typeface="Boriboon Bold"/>
                <a:sym typeface="Boriboon Bold"/>
              </a:rPr>
              <a:t>Presented by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32435" y="7461988"/>
            <a:ext cx="6223130" cy="68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0"/>
              </a:lnSpc>
            </a:pPr>
            <a:r>
              <a:rPr lang="en-US" sz="4064" b="1">
                <a:solidFill>
                  <a:srgbClr val="3B191D"/>
                </a:solidFill>
                <a:latin typeface="Loubag Bold"/>
                <a:ea typeface="Loubag Bold"/>
                <a:cs typeface="Loubag Bold"/>
                <a:sym typeface="Loubag Bold"/>
              </a:rPr>
              <a:t>THULI THUSI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53174" y="8821093"/>
            <a:ext cx="4181653" cy="43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>
                <a:solidFill>
                  <a:srgbClr val="3B191D"/>
                </a:solidFill>
                <a:latin typeface="Boriboon Bold"/>
                <a:ea typeface="Boriboon Bold"/>
                <a:cs typeface="Boriboon Bold"/>
                <a:sym typeface="Boriboon Bold"/>
              </a:rPr>
              <a:t>thulisiwegetty@gmail.com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14866" y="4972367"/>
            <a:ext cx="185826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>
            <a:off x="13738165" y="-128072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2"/>
                </a:lnTo>
                <a:lnTo>
                  <a:pt x="0" y="461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161141">
            <a:off x="13748119" y="7236006"/>
            <a:ext cx="4464924" cy="3304044"/>
          </a:xfrm>
          <a:custGeom>
            <a:avLst/>
            <a:gdLst/>
            <a:ahLst/>
            <a:cxnLst/>
            <a:rect l="l" t="t" r="r" b="b"/>
            <a:pathLst>
              <a:path w="4464924" h="3304044">
                <a:moveTo>
                  <a:pt x="0" y="0"/>
                </a:moveTo>
                <a:lnTo>
                  <a:pt x="4464924" y="0"/>
                </a:lnTo>
                <a:lnTo>
                  <a:pt x="4464924" y="3304044"/>
                </a:lnTo>
                <a:lnTo>
                  <a:pt x="0" y="330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5" name="TextBox 5"/>
          <p:cNvSpPr txBox="1"/>
          <p:nvPr/>
        </p:nvSpPr>
        <p:spPr>
          <a:xfrm>
            <a:off x="1028700" y="1768719"/>
            <a:ext cx="685598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08932"/>
            <a:ext cx="15492161" cy="57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08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Revenue and Sales Performance Insights</a:t>
            </a: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r>
              <a:rPr lang="en-US" sz="408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The sales range from 01 January 2023 - 30 June 2023</a:t>
            </a: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8898">
            <a:off x="14262378" y="5729094"/>
            <a:ext cx="4112940" cy="4947897"/>
          </a:xfrm>
          <a:custGeom>
            <a:avLst/>
            <a:gdLst/>
            <a:ahLst/>
            <a:cxnLst/>
            <a:rect l="l" t="t" r="r" b="b"/>
            <a:pathLst>
              <a:path w="4112940" h="4947897">
                <a:moveTo>
                  <a:pt x="0" y="0"/>
                </a:moveTo>
                <a:lnTo>
                  <a:pt x="4112940" y="0"/>
                </a:lnTo>
                <a:lnTo>
                  <a:pt x="4112940" y="4947897"/>
                </a:lnTo>
                <a:lnTo>
                  <a:pt x="0" y="4947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 rot="5722287">
            <a:off x="16086044" y="249127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8400314" flipH="1">
            <a:off x="14200540" y="-288563"/>
            <a:ext cx="1370572" cy="1573110"/>
          </a:xfrm>
          <a:custGeom>
            <a:avLst/>
            <a:gdLst/>
            <a:ahLst/>
            <a:cxnLst/>
            <a:rect l="l" t="t" r="r" b="b"/>
            <a:pathLst>
              <a:path w="1370572" h="1573110">
                <a:moveTo>
                  <a:pt x="1370571" y="0"/>
                </a:moveTo>
                <a:lnTo>
                  <a:pt x="0" y="0"/>
                </a:lnTo>
                <a:lnTo>
                  <a:pt x="0" y="1573109"/>
                </a:lnTo>
                <a:lnTo>
                  <a:pt x="1370571" y="1573109"/>
                </a:lnTo>
                <a:lnTo>
                  <a:pt x="137057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5" name="Freeform 5"/>
          <p:cNvSpPr/>
          <p:nvPr/>
        </p:nvSpPr>
        <p:spPr>
          <a:xfrm rot="5205185">
            <a:off x="16142575" y="-231876"/>
            <a:ext cx="2233449" cy="2563500"/>
          </a:xfrm>
          <a:custGeom>
            <a:avLst/>
            <a:gdLst/>
            <a:ahLst/>
            <a:cxnLst/>
            <a:rect l="l" t="t" r="r" b="b"/>
            <a:pathLst>
              <a:path w="2233449" h="2563500">
                <a:moveTo>
                  <a:pt x="0" y="0"/>
                </a:moveTo>
                <a:lnTo>
                  <a:pt x="2233450" y="0"/>
                </a:lnTo>
                <a:lnTo>
                  <a:pt x="2233450" y="2563499"/>
                </a:lnTo>
                <a:lnTo>
                  <a:pt x="0" y="2563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-1780756">
            <a:off x="17539657" y="4184661"/>
            <a:ext cx="871999" cy="1000859"/>
          </a:xfrm>
          <a:custGeom>
            <a:avLst/>
            <a:gdLst/>
            <a:ahLst/>
            <a:cxnLst/>
            <a:rect l="l" t="t" r="r" b="b"/>
            <a:pathLst>
              <a:path w="871999" h="1000859">
                <a:moveTo>
                  <a:pt x="0" y="0"/>
                </a:moveTo>
                <a:lnTo>
                  <a:pt x="871999" y="0"/>
                </a:lnTo>
                <a:lnTo>
                  <a:pt x="871999" y="1000860"/>
                </a:lnTo>
                <a:lnTo>
                  <a:pt x="0" y="100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aphicFrame>
        <p:nvGraphicFramePr>
          <p:cNvPr id="7" name="Object 7"/>
          <p:cNvGraphicFramePr/>
          <p:nvPr/>
        </p:nvGraphicFramePr>
        <p:xfrm>
          <a:off x="1028700" y="2358105"/>
          <a:ext cx="4300538" cy="62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562600" imgH="7543800" progId="Excel.Sheet.12">
                  <p:embed/>
                </p:oleObj>
              </mc:Choice>
              <mc:Fallback>
                <p:oleObj name="Worksheet" r:id="rId4" imgW="5562600" imgH="7543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2358105"/>
                        <a:ext cx="4300538" cy="628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028700" y="0"/>
            <a:ext cx="1005784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41092" y="1148303"/>
            <a:ext cx="7565051" cy="70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8"/>
              </a:lnSpc>
              <a:spcBef>
                <a:spcPct val="0"/>
              </a:spcBef>
            </a:pPr>
            <a:r>
              <a:rPr lang="en-US" sz="4170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Total Revenue per Day of the Week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9635" y="5910930"/>
            <a:ext cx="13005650" cy="375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1️⃣ Weekend Revenue Peaks</a:t>
            </a:r>
          </a:p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Monday, Wednesday, and Thursday show the highest revenue, indicating strong week foot traffic.</a:t>
            </a:r>
          </a:p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2️⃣ Mid-Week Performance</a:t>
            </a:r>
          </a:p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Tuesday and Saturday also perform well, suggesting consistent customer flow.</a:t>
            </a:r>
          </a:p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3️⃣ Slowest Days</a:t>
            </a:r>
          </a:p>
          <a:p>
            <a:pPr algn="ctr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Friday appears to generate the lowest revenue, making it the best candidate for targeted promotions or loyalty incentives.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26204" y="-2237225"/>
            <a:ext cx="2594532" cy="3794562"/>
          </a:xfrm>
          <a:custGeom>
            <a:avLst/>
            <a:gdLst/>
            <a:ahLst/>
            <a:cxnLst/>
            <a:rect l="l" t="t" r="r" b="b"/>
            <a:pathLst>
              <a:path w="2594532" h="3794562">
                <a:moveTo>
                  <a:pt x="0" y="0"/>
                </a:moveTo>
                <a:lnTo>
                  <a:pt x="2594532" y="0"/>
                </a:lnTo>
                <a:lnTo>
                  <a:pt x="2594532" y="3794563"/>
                </a:lnTo>
                <a:lnTo>
                  <a:pt x="0" y="3794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 rot="-3970797">
            <a:off x="9469858" y="9302536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5"/>
                </a:lnTo>
                <a:lnTo>
                  <a:pt x="0" y="1648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>
            <a:off x="612093" y="0"/>
            <a:ext cx="15795427" cy="9931115"/>
          </a:xfrm>
          <a:custGeom>
            <a:avLst/>
            <a:gdLst/>
            <a:ahLst/>
            <a:cxnLst/>
            <a:rect l="l" t="t" r="r" b="b"/>
            <a:pathLst>
              <a:path w="15795427" h="9931115">
                <a:moveTo>
                  <a:pt x="0" y="0"/>
                </a:moveTo>
                <a:lnTo>
                  <a:pt x="15795427" y="0"/>
                </a:lnTo>
                <a:lnTo>
                  <a:pt x="15795427" y="9931115"/>
                </a:lnTo>
                <a:lnTo>
                  <a:pt x="0" y="993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213" r="-6286" b="-146"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6216" y="2462791"/>
            <a:ext cx="5361418" cy="53614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6933C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8900" y="60325"/>
              <a:ext cx="6350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Boriboon"/>
                  <a:ea typeface="Boriboon"/>
                  <a:cs typeface="Boriboon"/>
                  <a:sym typeface="Boriboon"/>
                </a:rPr>
                <a:t>TOTAL REVENUE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Boriboon"/>
                  <a:ea typeface="Boriboon"/>
                  <a:cs typeface="Boriboon"/>
                  <a:sym typeface="Boriboon"/>
                </a:rPr>
                <a:t>VS PRODUCT TYPR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5078874" y="3379150"/>
            <a:ext cx="935949" cy="8308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0" y="2621406"/>
            <a:ext cx="6053733" cy="142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Premium Beans have highest revenue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8542039"/>
            <a:ext cx="17458831" cy="215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4085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Smaller blocks represent lower‑selling or lower‑priced items—ideal targets for repositioning or promotional strategies</a:t>
            </a:r>
          </a:p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49956" y="2284948"/>
            <a:ext cx="4057919" cy="176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This confirms their high demand and premium pricing.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727582" y="3379150"/>
            <a:ext cx="1022374" cy="783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ZA"/>
          </a:p>
        </p:txBody>
      </p:sp>
      <p:sp>
        <p:nvSpPr>
          <p:cNvPr id="10" name="AutoShape 10"/>
          <p:cNvSpPr/>
          <p:nvPr/>
        </p:nvSpPr>
        <p:spPr>
          <a:xfrm flipH="1">
            <a:off x="8406925" y="6562845"/>
            <a:ext cx="96910" cy="18587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>
            <a:off x="13738165" y="-128072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2"/>
                </a:lnTo>
                <a:lnTo>
                  <a:pt x="0" y="461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161141">
            <a:off x="13748119" y="7236006"/>
            <a:ext cx="4464924" cy="3304044"/>
          </a:xfrm>
          <a:custGeom>
            <a:avLst/>
            <a:gdLst/>
            <a:ahLst/>
            <a:cxnLst/>
            <a:rect l="l" t="t" r="r" b="b"/>
            <a:pathLst>
              <a:path w="4464924" h="3304044">
                <a:moveTo>
                  <a:pt x="0" y="0"/>
                </a:moveTo>
                <a:lnTo>
                  <a:pt x="4464924" y="0"/>
                </a:lnTo>
                <a:lnTo>
                  <a:pt x="4464924" y="3304044"/>
                </a:lnTo>
                <a:lnTo>
                  <a:pt x="0" y="330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aphicFrame>
        <p:nvGraphicFramePr>
          <p:cNvPr id="5" name="Object 5"/>
          <p:cNvGraphicFramePr/>
          <p:nvPr/>
        </p:nvGraphicFramePr>
        <p:xfrm>
          <a:off x="424152" y="2000250"/>
          <a:ext cx="4300538" cy="628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562600" imgH="7543800" progId="Excel.Sheet.12">
                  <p:embed/>
                </p:oleObj>
              </mc:Choice>
              <mc:Fallback>
                <p:oleObj name="Worksheet" r:id="rId5" imgW="5562600" imgH="7543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4152" y="2000250"/>
                        <a:ext cx="4300538" cy="628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279519" y="500062"/>
            <a:ext cx="974019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9519" y="6663975"/>
            <a:ext cx="10628248" cy="235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Revenue increases steadily from January → June, with the biggest jumps occurring:</a:t>
            </a:r>
          </a:p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Mar → Apr (+20k)</a:t>
            </a:r>
          </a:p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Apr → May (+38k)</a:t>
            </a:r>
          </a:p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May → Jun (+10k)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1032" y="5034915"/>
            <a:ext cx="985937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Lovelo Line"/>
                <a:ea typeface="Lovelo Line"/>
                <a:cs typeface="Lovelo Line"/>
                <a:sym typeface="Lovelo Line"/>
              </a:rPr>
              <a:t>Lovelo 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>
            <a:off x="13738165" y="-128072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2"/>
                </a:lnTo>
                <a:lnTo>
                  <a:pt x="0" y="461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161141">
            <a:off x="13748119" y="7236006"/>
            <a:ext cx="4464924" cy="3304044"/>
          </a:xfrm>
          <a:custGeom>
            <a:avLst/>
            <a:gdLst/>
            <a:ahLst/>
            <a:cxnLst/>
            <a:rect l="l" t="t" r="r" b="b"/>
            <a:pathLst>
              <a:path w="4464924" h="3304044">
                <a:moveTo>
                  <a:pt x="0" y="0"/>
                </a:moveTo>
                <a:lnTo>
                  <a:pt x="4464924" y="0"/>
                </a:lnTo>
                <a:lnTo>
                  <a:pt x="4464924" y="3304044"/>
                </a:lnTo>
                <a:lnTo>
                  <a:pt x="0" y="330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9028824" cy="12389842"/>
            <a:chOff x="0" y="0"/>
            <a:chExt cx="8750870" cy="120084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50871" cy="11906819"/>
            </a:xfrm>
            <a:custGeom>
              <a:avLst/>
              <a:gdLst/>
              <a:ahLst/>
              <a:cxnLst/>
              <a:rect l="l" t="t" r="r" b="b"/>
              <a:pathLst>
                <a:path w="8750871" h="11906819">
                  <a:moveTo>
                    <a:pt x="0" y="0"/>
                  </a:moveTo>
                  <a:lnTo>
                    <a:pt x="8750871" y="0"/>
                  </a:lnTo>
                  <a:lnTo>
                    <a:pt x="8750871" y="11906819"/>
                  </a:lnTo>
                  <a:lnTo>
                    <a:pt x="0" y="11906819"/>
                  </a:lnTo>
                  <a:close/>
                </a:path>
              </a:pathLst>
            </a:custGeom>
            <a:solidFill>
              <a:srgbClr val="FDF9B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8750871" cy="12008419"/>
            </a:xfrm>
            <a:custGeom>
              <a:avLst/>
              <a:gdLst/>
              <a:ahLst/>
              <a:cxnLst/>
              <a:rect l="l" t="t" r="r" b="b"/>
              <a:pathLst>
                <a:path w="8750871" h="12008419">
                  <a:moveTo>
                    <a:pt x="0" y="11906819"/>
                  </a:moveTo>
                  <a:lnTo>
                    <a:pt x="8750871" y="11906819"/>
                  </a:lnTo>
                  <a:lnTo>
                    <a:pt x="8623871" y="12008419"/>
                  </a:lnTo>
                  <a:cubicBezTo>
                    <a:pt x="8623871" y="12008419"/>
                    <a:pt x="7633271" y="11932219"/>
                    <a:pt x="7531671" y="11932219"/>
                  </a:cubicBezTo>
                  <a:lnTo>
                    <a:pt x="1219200" y="11932219"/>
                  </a:lnTo>
                  <a:cubicBezTo>
                    <a:pt x="1117600" y="11932219"/>
                    <a:pt x="127000" y="12008419"/>
                    <a:pt x="127000" y="12008419"/>
                  </a:cubicBezTo>
                  <a:lnTo>
                    <a:pt x="0" y="11906819"/>
                  </a:lnTo>
                  <a:lnTo>
                    <a:pt x="0" y="0"/>
                  </a:lnTo>
                  <a:lnTo>
                    <a:pt x="8750871" y="0"/>
                  </a:lnTo>
                  <a:lnTo>
                    <a:pt x="8750871" y="11906819"/>
                  </a:lnTo>
                  <a:lnTo>
                    <a:pt x="12700" y="11906819"/>
                  </a:lnTo>
                  <a:lnTo>
                    <a:pt x="12700" y="11894119"/>
                  </a:lnTo>
                  <a:lnTo>
                    <a:pt x="8738171" y="11894119"/>
                  </a:lnTo>
                  <a:lnTo>
                    <a:pt x="8738171" y="12700"/>
                  </a:lnTo>
                  <a:lnTo>
                    <a:pt x="12700" y="12700"/>
                  </a:lnTo>
                  <a:lnTo>
                    <a:pt x="12700" y="1190681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750870" cy="11506769"/>
            </a:xfrm>
            <a:prstGeom prst="rect">
              <a:avLst/>
            </a:prstGeom>
          </p:spPr>
          <p:txBody>
            <a:bodyPr lIns="279539" tIns="279539" rIns="279539" bIns="279539" rtlCol="0" anchor="t"/>
            <a:lstStyle/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Capitalize on High Months (Apr–Jun)</a:t>
              </a: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Stock Up on Best-Selling Items</a:t>
              </a: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Based on earlier analysis (top items sold):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Brewed Chai Tea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Gourmet brewed coffee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Barista espresso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Scones</a:t>
              </a:r>
            </a:p>
            <a:p>
              <a:pPr algn="l">
                <a:lnSpc>
                  <a:spcPts val="3659"/>
                </a:lnSpc>
              </a:pPr>
              <a:endParaRPr lang="en-US" sz="26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Peak months are ideal for: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Specials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Bundle offers  or combos (Coffee + Pastry)</a:t>
              </a:r>
            </a:p>
            <a:p>
              <a:pPr algn="l">
                <a:lnSpc>
                  <a:spcPts val="3659"/>
                </a:lnSpc>
              </a:pPr>
              <a:endParaRPr lang="en-US" sz="26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Slow Months (Jan &amp; Feb)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Discounted morning deals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Special promotions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 + pastry combos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Happy hour for low foot traffic periods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Buy one get one free sprecials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4178434" y="1280565"/>
            <a:ext cx="9922732" cy="7725870"/>
            <a:chOff x="0" y="0"/>
            <a:chExt cx="2613395" cy="20347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13395" cy="2034797"/>
            </a:xfrm>
            <a:custGeom>
              <a:avLst/>
              <a:gdLst/>
              <a:ahLst/>
              <a:cxnLst/>
              <a:rect l="l" t="t" r="r" b="b"/>
              <a:pathLst>
                <a:path w="2613395" h="2034797">
                  <a:moveTo>
                    <a:pt x="1306697" y="0"/>
                  </a:moveTo>
                  <a:cubicBezTo>
                    <a:pt x="585028" y="0"/>
                    <a:pt x="0" y="455505"/>
                    <a:pt x="0" y="1017399"/>
                  </a:cubicBezTo>
                  <a:cubicBezTo>
                    <a:pt x="0" y="1579292"/>
                    <a:pt x="585028" y="2034797"/>
                    <a:pt x="1306697" y="2034797"/>
                  </a:cubicBezTo>
                  <a:cubicBezTo>
                    <a:pt x="2028366" y="2034797"/>
                    <a:pt x="2613395" y="1579292"/>
                    <a:pt x="2613395" y="1017399"/>
                  </a:cubicBezTo>
                  <a:cubicBezTo>
                    <a:pt x="2613395" y="455505"/>
                    <a:pt x="2028366" y="0"/>
                    <a:pt x="1306697" y="0"/>
                  </a:cubicBezTo>
                  <a:close/>
                </a:path>
              </a:pathLst>
            </a:custGeom>
            <a:solidFill>
              <a:srgbClr val="F8EFE5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5006" y="162187"/>
              <a:ext cx="2123383" cy="168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01166" y="-179750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3"/>
                </a:lnTo>
                <a:lnTo>
                  <a:pt x="0" y="461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7" name="Freeform 7"/>
          <p:cNvSpPr/>
          <p:nvPr/>
        </p:nvSpPr>
        <p:spPr>
          <a:xfrm rot="729829">
            <a:off x="-331243" y="6148586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7" y="0"/>
                </a:lnTo>
                <a:lnTo>
                  <a:pt x="3698127" y="4448874"/>
                </a:lnTo>
                <a:lnTo>
                  <a:pt x="0" y="4448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 rot="-161141">
            <a:off x="13738165" y="7250138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4" y="0"/>
                </a:lnTo>
                <a:lnTo>
                  <a:pt x="3872014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 rot="-2238453" flipH="1">
            <a:off x="3043109" y="9423951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/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 rot="1334459" flipH="1">
            <a:off x="-904437" y="2190700"/>
            <a:ext cx="3074684" cy="3660339"/>
          </a:xfrm>
          <a:custGeom>
            <a:avLst/>
            <a:gdLst/>
            <a:ahLst/>
            <a:cxnLst/>
            <a:rect l="l" t="t" r="r" b="b"/>
            <a:pathLst>
              <a:path w="3074684" h="3660339">
                <a:moveTo>
                  <a:pt x="3074684" y="0"/>
                </a:moveTo>
                <a:lnTo>
                  <a:pt x="0" y="0"/>
                </a:lnTo>
                <a:lnTo>
                  <a:pt x="0" y="3660339"/>
                </a:lnTo>
                <a:lnTo>
                  <a:pt x="3074684" y="3660339"/>
                </a:lnTo>
                <a:lnTo>
                  <a:pt x="307468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TextBox 13"/>
          <p:cNvSpPr txBox="1"/>
          <p:nvPr/>
        </p:nvSpPr>
        <p:spPr>
          <a:xfrm>
            <a:off x="4898981" y="3069081"/>
            <a:ext cx="8481639" cy="48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78"/>
              </a:lnSpc>
            </a:pPr>
            <a:r>
              <a:rPr lang="en-US" sz="15815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THANK YOU</a:t>
            </a:r>
          </a:p>
        </p:txBody>
      </p:sp>
      <p:sp>
        <p:nvSpPr>
          <p:cNvPr id="14" name="Freeform 14"/>
          <p:cNvSpPr/>
          <p:nvPr/>
        </p:nvSpPr>
        <p:spPr>
          <a:xfrm rot="-2238453" flipH="1">
            <a:off x="4089811" y="-651993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Canva Sans</vt:lpstr>
      <vt:lpstr>Lovelo Line</vt:lpstr>
      <vt:lpstr>Loubag Bold</vt:lpstr>
      <vt:lpstr>Boriboon</vt:lpstr>
      <vt:lpstr>Loubag</vt:lpstr>
      <vt:lpstr>Aptos</vt:lpstr>
      <vt:lpstr>Boriboon Bold</vt:lpstr>
      <vt:lpstr>Arial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</dc:title>
  <cp:lastModifiedBy>Thusi, Thuli T</cp:lastModifiedBy>
  <cp:revision>2</cp:revision>
  <dcterms:created xsi:type="dcterms:W3CDTF">2006-08-16T00:00:00Z</dcterms:created>
  <dcterms:modified xsi:type="dcterms:W3CDTF">2026-03-31T18:51:35Z</dcterms:modified>
  <dc:identifier>DAHFiB0MGyE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b9d4ea-d348-4e93-a29a-8def053c0154_Enabled">
    <vt:lpwstr>true</vt:lpwstr>
  </property>
  <property fmtid="{D5CDD505-2E9C-101B-9397-08002B2CF9AE}" pid="3" name="MSIP_Label_d6b9d4ea-d348-4e93-a29a-8def053c0154_SetDate">
    <vt:lpwstr>2026-03-31T18:51:28Z</vt:lpwstr>
  </property>
  <property fmtid="{D5CDD505-2E9C-101B-9397-08002B2CF9AE}" pid="4" name="MSIP_Label_d6b9d4ea-d348-4e93-a29a-8def053c0154_Method">
    <vt:lpwstr>Standard</vt:lpwstr>
  </property>
  <property fmtid="{D5CDD505-2E9C-101B-9397-08002B2CF9AE}" pid="5" name="MSIP_Label_d6b9d4ea-d348-4e93-a29a-8def053c0154_Name">
    <vt:lpwstr>d6b9d4ea-d348-4e93-a29a-8def053c0154</vt:lpwstr>
  </property>
  <property fmtid="{D5CDD505-2E9C-101B-9397-08002B2CF9AE}" pid="6" name="MSIP_Label_d6b9d4ea-d348-4e93-a29a-8def053c0154_SiteId">
    <vt:lpwstr>7369e6ec-faa6-42fa-bc0e-4f332da5b1db</vt:lpwstr>
  </property>
  <property fmtid="{D5CDD505-2E9C-101B-9397-08002B2CF9AE}" pid="7" name="MSIP_Label_d6b9d4ea-d348-4e93-a29a-8def053c0154_ActionId">
    <vt:lpwstr>0a237976-55c0-42be-b36c-c826643d84eb</vt:lpwstr>
  </property>
  <property fmtid="{D5CDD505-2E9C-101B-9397-08002B2CF9AE}" pid="8" name="MSIP_Label_d6b9d4ea-d348-4e93-a29a-8def053c0154_ContentBits">
    <vt:lpwstr>2</vt:lpwstr>
  </property>
  <property fmtid="{D5CDD505-2E9C-101B-9397-08002B2CF9AE}" pid="9" name="MSIP_Label_d6b9d4ea-d348-4e93-a29a-8def053c015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Classified as Internal use only</vt:lpwstr>
  </property>
</Properties>
</file>